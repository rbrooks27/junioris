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5" r:id="rId9"/>
    <p:sldId id="266" r:id="rId10"/>
    <p:sldId id="273" r:id="rId11"/>
    <p:sldId id="260" r:id="rId12"/>
    <p:sldId id="267" r:id="rId13"/>
    <p:sldId id="262" r:id="rId14"/>
    <p:sldId id="264" r:id="rId15"/>
    <p:sldId id="263" r:id="rId16"/>
    <p:sldId id="261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E265AA-1328-4673-9C0F-27C0A7279333}" v="882" dt="2025-12-04T01:10:56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E5720-BE1B-4648-B32E-9C98A3D6040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5B404-C868-42E3-9502-9E887E7EE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36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Welcome, my name is Ray Brooks, and this is my Junior Independent Study project—a computational tool designed to help students explore multistep organic synthesis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B404-C868-42E3-9502-9E887E7EE2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15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920DE-46C6-6C72-C0CD-439196092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E35D6-553D-2183-7D91-9C583FA55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97D2C-5E55-ADA4-303B-D6E386CFB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D1171-FEEB-4A30-83AC-7C1929862B15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F726F-E4C4-1CE3-FD9F-606A5E832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9E64F-FD32-7BD9-9B25-B37629FF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24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CD522-16FA-FD5A-1E0C-1617E084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94DC-CBB0-BD99-C0E4-8916F59FB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F36A1-CD6F-3FE5-4DB4-950DBE3A7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FF1B3-F486-4A8E-9DEA-39D7D5450BAE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F6FA9-D6F3-E4FF-4138-BC173EC6B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9E80A-1ABA-FF77-AE79-1FBA5CB1F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9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AA22-6A08-06EC-08B8-D518B0A9B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E3661-5F11-46E0-709C-BCCD943AA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2CEC7-080B-5D38-4A47-5FBAF738A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74F2-9F83-447D-8D4A-9BA8F738E65D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A52E7-48BC-6588-15D4-53EB9CA2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CF869-E0BC-B77E-378B-85524226B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3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5049A-059B-BEA0-1DB2-A620192C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B2C9F-A171-2A99-424C-BEFC48624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C903C-153E-9BDF-B59B-EA3A9B65C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4B48D-E115-7CCF-5F7D-FC2624FEF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E1E34-F542-4D7D-B389-F607CCB2BA1A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AD177-64C6-A87B-96AD-A322A4BCF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C9E23-9412-422C-013A-D6F68CD5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4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C16C8-0A9F-3492-61C0-1B3C0AA44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B19D3-EF74-CB43-334E-6B672F966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E19B1-392F-F6DB-A1B8-F3051E0FF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BEB4BA-0F6D-FE83-453F-C044A7809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9AB36-CA05-812E-F77E-C660619D7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75B48B-4B13-6934-AE31-15FED08B3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F1DD-14B0-48A8-A33B-29BA9F4FBE3A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826E75-25ED-7E7A-ED5D-93AB15FC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EC5F4-CDC8-DD03-53FC-909BE72F9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82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73EF-626C-8867-89E3-18A631AC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559AA-4EBD-003F-CD4B-62D365E7D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C946-1822-4158-8FC8-FC34E6BE6B6F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F318C-BB49-DD09-AA8F-504C1626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D5587-5E51-B45A-81A6-6457F579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50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BE6E3-B6AF-F5A8-F797-AA1BF12A1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9F755-73A5-4B7F-9BF2-4E8750BFD89C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19BA4E-04C2-82C0-932F-68D3AF47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0F716-1042-2040-BF83-0216AAA20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24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E9302-B6D7-E345-3586-1601D22AB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E0BD3-3C3D-EF18-C55C-426AC2BA7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AC73B-6932-B5DF-F66F-41471F817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68582-7FB4-EF12-D36F-7950A870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0CE22-551C-40B0-B6BE-789B8EF633FA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375FF-C239-DB82-50BF-FEC592E9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66928-8A8B-ABBC-7751-84C5D623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6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34B8F-15FF-A304-7D41-D44BF6CED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AF3C3-EEC1-3D18-998C-128C3CF3E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B9B4C-8A16-868E-FF46-B84F95487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6F2F7-1EF3-2BE6-37AA-168935839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116CF-4DF1-49A0-AFAB-BD3EE341F403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8C74A-5A1B-18CC-52A8-602A6A81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FF4CB-AC39-66ED-8930-671F750E6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78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CF4F7-B0F5-BB45-A906-6F6118DD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C19E6-F0FD-2AEC-8B5F-AD7E5855E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09772-CD1A-2C85-1C23-37FB3989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C71FC-DD47-433C-B00E-EBFA59B6E65D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B5E94-80B3-8FCD-1CF6-677E986C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D1F1A-55D7-3045-713B-22DE85FA6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3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C3447-9DBA-B6AE-571C-A1ADA017C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4A88C-BCA8-8768-0515-3A01D7DE6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6B328-D60C-B055-493A-0423881C9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B0D5-2D25-4613-B9DC-A1AE85296BFA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63DAD-DF81-22BF-821F-47C267871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93A6D-DC37-D054-8D9C-AEE22515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4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1EB6A-852F-68B6-66A5-8C3944FDB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F09A5-5385-4914-ED0A-C7DBFCC53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6E88B-CFF1-ADBF-52E8-631BD17CA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364B4-FC92-4ED5-AF4B-51AC13A9E62A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E0F0C-5CEA-9169-7A28-888DB24F5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3CAED-35BD-2ED3-C206-562FEC6DD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25702-E997-461E-8379-886CE343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1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25141-1238-2FF8-76CC-ED236DD99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Multistep Synthesis Tool for Organic Chemistry Education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62D14-D655-891C-E635-18D72B1058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Raelyn Brooks</a:t>
            </a:r>
          </a:p>
          <a:p>
            <a:r>
              <a:rPr lang="en-US" b="1" dirty="0"/>
              <a:t>College of Wooster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89BB5-DBC0-DC91-C844-6A16BB1DB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1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CAS SciFinder Database ...">
            <a:extLst>
              <a:ext uri="{FF2B5EF4-FFF2-40B4-BE49-F238E27FC236}">
                <a16:creationId xmlns:a16="http://schemas.microsoft.com/office/drawing/2014/main" id="{48F43C43-A55F-BC4B-70D0-56BBC671C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5961" y="5362525"/>
            <a:ext cx="2151126" cy="1251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E34FD5-0F27-0BB4-0FA1-9B15D75D8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CC019-C77E-B1BB-A376-31219999F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Why build a Multistep Synthesis Tool?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I almost failed O-Chem and I’m a problem solver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Students often struggle to visualize multistep pathways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Existing tools are expensive and not beginner-friendly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5C47D-984D-FD1E-D973-A74EA5ED3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2</a:t>
            </a:fld>
            <a:endParaRPr lang="en-US" dirty="0"/>
          </a:p>
        </p:txBody>
      </p:sp>
      <p:pic>
        <p:nvPicPr>
          <p:cNvPr id="1026" name="Picture 2" descr="Reaxys toolkit">
            <a:extLst>
              <a:ext uri="{FF2B5EF4-FFF2-40B4-BE49-F238E27FC236}">
                <a16:creationId xmlns:a16="http://schemas.microsoft.com/office/drawing/2014/main" id="{78A12B3D-F335-E4CD-202E-44E0DC53A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5961" y="4266515"/>
            <a:ext cx="1957161" cy="109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re College Exit Exams a Valid Measure ...">
            <a:extLst>
              <a:ext uri="{FF2B5EF4-FFF2-40B4-BE49-F238E27FC236}">
                <a16:creationId xmlns:a16="http://schemas.microsoft.com/office/drawing/2014/main" id="{3DB4DCEE-0B4F-C929-6675-9CE6BEEF1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501" y="4531222"/>
            <a:ext cx="3017019" cy="200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3577FB-B706-0A3C-343E-A496C43A3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893" y="4994282"/>
            <a:ext cx="5269387" cy="99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7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AF82-8AFA-D52C-5740-43CC36A2D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F542E-BE29-4D0D-65B7-64B9EFF5A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66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Generate possible multistep synthesis pathways but… </a:t>
            </a:r>
          </a:p>
          <a:p>
            <a:pPr marL="0" indent="0">
              <a:buNone/>
            </a:pPr>
            <a:r>
              <a:rPr lang="en-US" dirty="0"/>
              <a:t>	In a useful, interactive, and educational way.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Multistep Synthesis and CS both loves…. </a:t>
            </a:r>
          </a:p>
          <a:p>
            <a:pPr marL="0" indent="0">
              <a:buNone/>
            </a:pPr>
            <a:r>
              <a:rPr lang="en-US" dirty="0"/>
              <a:t>	Graphs so graph-based system to explore connections 	between reactions</a:t>
            </a:r>
          </a:p>
          <a:p>
            <a:endParaRPr lang="en-US" dirty="0"/>
          </a:p>
          <a:p>
            <a:r>
              <a:rPr lang="en-US" dirty="0"/>
              <a:t>Ultimately it is all about… </a:t>
            </a:r>
          </a:p>
          <a:p>
            <a:pPr marL="0" indent="0">
              <a:buNone/>
            </a:pPr>
            <a:r>
              <a:rPr lang="en-US" dirty="0"/>
              <a:t>	Helping struggling students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1FCC3-AE3A-FCC1-51DC-706A42FFE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45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0D550-F048-6C4C-4126-2369AA47F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31" y="37807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High Level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72298-F8B6-B4D4-E236-0F47F5F25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53CF1-02D4-8044-E43E-A9967BC88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062"/>
            <a:ext cx="10820400" cy="48958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How the System Works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Reactions are encoded as </a:t>
            </a:r>
            <a:r>
              <a:rPr lang="en-US" b="1" dirty="0"/>
              <a:t>reaction SMILES (Simplified Molecular Input Line Entry System)</a:t>
            </a:r>
            <a:br>
              <a:rPr lang="en-US" b="1" dirty="0"/>
            </a:br>
            <a:endParaRPr lang="en-US" b="1" dirty="0"/>
          </a:p>
          <a:p>
            <a:pPr lvl="1">
              <a:buFont typeface="Wingdings" panose="05000000000000000000" pitchFamily="2" charset="2"/>
              <a:buChar char="q"/>
            </a:pPr>
            <a:endParaRPr lang="en-US" b="1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Molecules and reactions form a </a:t>
            </a:r>
            <a:r>
              <a:rPr lang="en-US" b="1" dirty="0"/>
              <a:t>directed graph (aka not random)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 </a:t>
            </a:r>
            <a:r>
              <a:rPr lang="en-US" dirty="0"/>
              <a:t>A search algorithm explores possible pathways from starting materials to a target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Outputs the shortest or alternative synthesis routes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769F34-4374-4EB2-858C-F1DBD87FF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455" y="2582909"/>
            <a:ext cx="3772368" cy="19005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721BEE-33C3-2D9F-B0AE-34AD8D4E702E}"/>
              </a:ext>
            </a:extLst>
          </p:cNvPr>
          <p:cNvSpPr txBox="1"/>
          <p:nvPr/>
        </p:nvSpPr>
        <p:spPr>
          <a:xfrm>
            <a:off x="4452721" y="4483447"/>
            <a:ext cx="58804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1: Examples of SMILES and their structures.</a:t>
            </a:r>
          </a:p>
        </p:txBody>
      </p:sp>
    </p:spTree>
    <p:extLst>
      <p:ext uri="{BB962C8B-B14F-4D97-AF65-F5344CB8AC3E}">
        <p14:creationId xmlns:p14="http://schemas.microsoft.com/office/powerpoint/2010/main" val="234082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EE5F8-06F1-5E39-69F2-5CEEAA508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76719-9757-F531-E7AC-D83997E0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31" y="37807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High Level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A46C1-D93B-81A5-9447-F098BE3C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5</a:t>
            </a:fld>
            <a:endParaRPr lang="en-US"/>
          </a:p>
        </p:txBody>
      </p:sp>
      <p:pic>
        <p:nvPicPr>
          <p:cNvPr id="2052" name="Picture 4" descr="Triplets!!!! Who, of course, had to recreate the Spiderman ...">
            <a:extLst>
              <a:ext uri="{FF2B5EF4-FFF2-40B4-BE49-F238E27FC236}">
                <a16:creationId xmlns:a16="http://schemas.microsoft.com/office/drawing/2014/main" id="{7F92CB79-4FA0-3329-09D0-6BD85474A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02" y="1703638"/>
            <a:ext cx="4488782" cy="356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E19965-FE77-53CC-807F-CF7FE6144AAD}"/>
              </a:ext>
            </a:extLst>
          </p:cNvPr>
          <p:cNvSpPr txBox="1"/>
          <p:nvPr/>
        </p:nvSpPr>
        <p:spPr>
          <a:xfrm>
            <a:off x="1275364" y="5433941"/>
            <a:ext cx="3235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Directed Graph In A Nutshell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56E07-E8CD-693B-A525-9575D07924E4}"/>
              </a:ext>
            </a:extLst>
          </p:cNvPr>
          <p:cNvSpPr txBox="1"/>
          <p:nvPr/>
        </p:nvSpPr>
        <p:spPr>
          <a:xfrm>
            <a:off x="5915543" y="1751623"/>
            <a:ext cx="52256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Nodes are compounds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Edges are reactions (reagents, conditions)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8D47E-39E1-968C-5126-C7615230EF71}"/>
              </a:ext>
            </a:extLst>
          </p:cNvPr>
          <p:cNvSpPr txBox="1"/>
          <p:nvPr/>
        </p:nvSpPr>
        <p:spPr>
          <a:xfrm>
            <a:off x="5785191" y="3198167"/>
            <a:ext cx="52256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You see it now…</a:t>
            </a:r>
          </a:p>
        </p:txBody>
      </p:sp>
      <p:pic>
        <p:nvPicPr>
          <p:cNvPr id="2054" name="Picture 6" descr="15.6 Worked Examples | Organic Chemistry II">
            <a:extLst>
              <a:ext uri="{FF2B5EF4-FFF2-40B4-BE49-F238E27FC236}">
                <a16:creationId xmlns:a16="http://schemas.microsoft.com/office/drawing/2014/main" id="{98A3DFF2-342C-FAC9-72AB-066FF5E60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448" y="3703477"/>
            <a:ext cx="3689183" cy="290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1ACF53-0ACA-F2DA-FF5D-5AEA5B8C2582}"/>
              </a:ext>
            </a:extLst>
          </p:cNvPr>
          <p:cNvSpPr txBox="1"/>
          <p:nvPr/>
        </p:nvSpPr>
        <p:spPr>
          <a:xfrm>
            <a:off x="6553448" y="6538912"/>
            <a:ext cx="58804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2: Example of a Multistep Synthesis Pathway </a:t>
            </a:r>
          </a:p>
        </p:txBody>
      </p:sp>
    </p:spTree>
    <p:extLst>
      <p:ext uri="{BB962C8B-B14F-4D97-AF65-F5344CB8AC3E}">
        <p14:creationId xmlns:p14="http://schemas.microsoft.com/office/powerpoint/2010/main" val="155527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C51C-040D-D1E1-06ED-258D7912A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6EC4-4035-ED14-CDA2-AF96F696C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31" y="37807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High Level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9EBA0-00AD-8DF2-A778-78498B93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6A624-EC96-EBC0-FB57-8143DA7D6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Components: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Dataset Parser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Reads and standardizes reaction SMILES from large dataset </a:t>
            </a:r>
          </a:p>
          <a:p>
            <a:pPr marL="914400" lvl="2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Canonicalizer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Converts SMILES to canonical (ordered) form </a:t>
            </a:r>
          </a:p>
          <a:p>
            <a:pPr marL="914400" lvl="2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Reaction graph builder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Connects reactions by matching: product → reactant</a:t>
            </a:r>
          </a:p>
          <a:p>
            <a:pPr marL="914400" lvl="2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Pathway searcher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BFS / DFS / modified search </a:t>
            </a:r>
          </a:p>
        </p:txBody>
      </p:sp>
      <p:pic>
        <p:nvPicPr>
          <p:cNvPr id="3076" name="Picture 4" descr="Canonical (a) and randomized (b) SMILES representations of aspirin.... |  Download Scientific Diagram">
            <a:extLst>
              <a:ext uri="{FF2B5EF4-FFF2-40B4-BE49-F238E27FC236}">
                <a16:creationId xmlns:a16="http://schemas.microsoft.com/office/drawing/2014/main" id="{1581CB70-EF05-B6CC-666A-B63C9F399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256" y="3015126"/>
            <a:ext cx="2576544" cy="124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trosynthesis Organic Chemistry Tutorial">
            <a:extLst>
              <a:ext uri="{FF2B5EF4-FFF2-40B4-BE49-F238E27FC236}">
                <a16:creationId xmlns:a16="http://schemas.microsoft.com/office/drawing/2014/main" id="{9E44E717-6EC6-24B1-42DE-BE68638F9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457" y="4644189"/>
            <a:ext cx="1532774" cy="153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7A1C2E-7901-6119-E837-DF0173FFAFBA}"/>
              </a:ext>
            </a:extLst>
          </p:cNvPr>
          <p:cNvSpPr txBox="1"/>
          <p:nvPr/>
        </p:nvSpPr>
        <p:spPr>
          <a:xfrm>
            <a:off x="8777256" y="4258401"/>
            <a:ext cx="2942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3: Canonical vs Non-canonical</a:t>
            </a:r>
          </a:p>
        </p:txBody>
      </p:sp>
    </p:spTree>
    <p:extLst>
      <p:ext uri="{BB962C8B-B14F-4D97-AF65-F5344CB8AC3E}">
        <p14:creationId xmlns:p14="http://schemas.microsoft.com/office/powerpoint/2010/main" val="249131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C3B52-2058-AF97-088F-8C47EA86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7</a:t>
            </a:fld>
            <a:endParaRPr lang="en-US"/>
          </a:p>
        </p:txBody>
      </p:sp>
      <p:pic>
        <p:nvPicPr>
          <p:cNvPr id="7170" name="Picture 2" descr="9.6: Synthesis of Target Molecules- Introduction of Retrosynthetic Analysis  - Chemistry LibreTexts">
            <a:extLst>
              <a:ext uri="{FF2B5EF4-FFF2-40B4-BE49-F238E27FC236}">
                <a16:creationId xmlns:a16="http://schemas.microsoft.com/office/drawing/2014/main" id="{AE6D662E-6F24-C982-F98D-79C629652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04" y="1627839"/>
            <a:ext cx="11301592" cy="329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3552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CD4C-2FEF-1F3E-DC14-01C3052F2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34" y="48994"/>
            <a:ext cx="10515600" cy="1325563"/>
          </a:xfrm>
        </p:spPr>
        <p:txBody>
          <a:bodyPr/>
          <a:lstStyle/>
          <a:p>
            <a:r>
              <a:rPr lang="en-US" b="1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C4D2-A0FC-C593-1407-5409CC97F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155" y="1027862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Two Datasets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Small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Textbook reactions (intro-level organic chemistry)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Came from pass O-Chem questions from my old exams (shout out Dr. Bonvallet)</a:t>
            </a:r>
          </a:p>
          <a:p>
            <a:pPr lvl="2">
              <a:buFont typeface="Wingdings" panose="05000000000000000000" pitchFamily="2" charset="2"/>
              <a:buChar char="q"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Large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1.37 million real-world reaction entries from Rik van der Lingen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Reaction data span from 1976 – 2024 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Both datasets are formatted in SMILES/SMIRKS notation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C7C3B-1914-583F-860E-88C6A35A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36C4C2-15A8-F739-F9FF-B7DA7904A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715" y="2466159"/>
            <a:ext cx="3902375" cy="17676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251023-9251-F324-6824-FE971809B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927" y="4114429"/>
            <a:ext cx="3259766" cy="21417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487989-6CC8-580B-1F2A-5031EB1DCB29}"/>
              </a:ext>
            </a:extLst>
          </p:cNvPr>
          <p:cNvSpPr txBox="1"/>
          <p:nvPr/>
        </p:nvSpPr>
        <p:spPr>
          <a:xfrm>
            <a:off x="7436293" y="2957310"/>
            <a:ext cx="2942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4: Example of Textbook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25719A-4325-7406-7DD6-92E120BC84FC}"/>
              </a:ext>
            </a:extLst>
          </p:cNvPr>
          <p:cNvSpPr txBox="1"/>
          <p:nvPr/>
        </p:nvSpPr>
        <p:spPr>
          <a:xfrm>
            <a:off x="8748927" y="6292691"/>
            <a:ext cx="2942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5: Part of the 1.37 million SMILES</a:t>
            </a:r>
          </a:p>
        </p:txBody>
      </p:sp>
    </p:spTree>
    <p:extLst>
      <p:ext uri="{BB962C8B-B14F-4D97-AF65-F5344CB8AC3E}">
        <p14:creationId xmlns:p14="http://schemas.microsoft.com/office/powerpoint/2010/main" val="182049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AA164-10C9-0DCF-67F0-770CC5F98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09E0-D4B2-47D1-CF1C-4384F5588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31" y="37807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16A80-270C-7E38-D8ED-E062A240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B4752-7BFA-ABF9-1BB2-8FDCEAD72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Pathway Generation Code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Python + </a:t>
            </a:r>
            <a:r>
              <a:rPr lang="en-US" dirty="0" err="1"/>
              <a:t>RDKit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Smiles canonicalization ensures consistent node matching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err="1"/>
              <a:t>ReactionGraph</a:t>
            </a:r>
            <a:r>
              <a:rPr lang="en-US" dirty="0"/>
              <a:t> class stores edges and nodes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BFS used for shortest pathway search</a:t>
            </a:r>
          </a:p>
          <a:p>
            <a:r>
              <a:rPr lang="en-US" dirty="0"/>
              <a:t>Example Pathway Search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Input: Target molecule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Tool traverses reaction graph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Outputs all viable synthetic routes up to N steps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Returns pathways with structures + SMILES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146" name="Picture 2" descr="The RDKit Documentation — The RDKit ...">
            <a:extLst>
              <a:ext uri="{FF2B5EF4-FFF2-40B4-BE49-F238E27FC236}">
                <a16:creationId xmlns:a16="http://schemas.microsoft.com/office/drawing/2014/main" id="{DE1BDDE3-4CFD-80F8-E8EE-4A07E45B0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01" y="3830730"/>
            <a:ext cx="123308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ython (programming language) - Wikipedia">
            <a:extLst>
              <a:ext uri="{FF2B5EF4-FFF2-40B4-BE49-F238E27FC236}">
                <a16:creationId xmlns:a16="http://schemas.microsoft.com/office/drawing/2014/main" id="{E9657C32-A63F-C82E-52D2-2C60C43EE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0820" y="1867324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27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4774E-DB4D-BC85-219F-F541B4D73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E36B-F35F-B304-E76A-A2558717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5157B-6928-4807-1697-85C9E38F0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 Syntheses Generated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Generated multistep pathways for both common textbook molecules and complex real-world reactions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Correctly identified multiple alternate pathways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Robust to varied SMILES inputs after canonicalization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768DA-588B-AA64-FE7D-80B7B9AE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 descr="A black lines with a white background&#10;&#10;AI-generated content may be incorrect.">
            <a:extLst>
              <a:ext uri="{FF2B5EF4-FFF2-40B4-BE49-F238E27FC236}">
                <a16:creationId xmlns:a16="http://schemas.microsoft.com/office/drawing/2014/main" id="{E89455AD-65C8-8BC8-54D6-5E1D9DD9B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433" y="3784465"/>
            <a:ext cx="10107134" cy="24524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203CDD-C118-7B81-33D1-D987415EE79C}"/>
              </a:ext>
            </a:extLst>
          </p:cNvPr>
          <p:cNvSpPr txBox="1"/>
          <p:nvPr/>
        </p:nvSpPr>
        <p:spPr>
          <a:xfrm>
            <a:off x="838200" y="6116554"/>
            <a:ext cx="29425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6: Actual generated image from my project</a:t>
            </a:r>
          </a:p>
        </p:txBody>
      </p:sp>
    </p:spTree>
    <p:extLst>
      <p:ext uri="{BB962C8B-B14F-4D97-AF65-F5344CB8AC3E}">
        <p14:creationId xmlns:p14="http://schemas.microsoft.com/office/powerpoint/2010/main" val="285918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5E4A-72E4-43F3-ACE5-0C8BD543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327E-EDA2-1BFB-5CCB-67377A59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32" y="1246063"/>
            <a:ext cx="3646118" cy="3626562"/>
          </a:xfrm>
        </p:spPr>
        <p:txBody>
          <a:bodyPr>
            <a:noAutofit/>
          </a:bodyPr>
          <a:lstStyle/>
          <a:p>
            <a:r>
              <a:rPr lang="en-US" sz="9600" b="1" dirty="0"/>
              <a:t>Demo Time</a:t>
            </a:r>
          </a:p>
        </p:txBody>
      </p:sp>
      <p:pic>
        <p:nvPicPr>
          <p:cNvPr id="6" name="Content Placeholder 5" descr="A person in a blue and white shirt&#10;&#10;AI-generated content may be incorrect.">
            <a:extLst>
              <a:ext uri="{FF2B5EF4-FFF2-40B4-BE49-F238E27FC236}">
                <a16:creationId xmlns:a16="http://schemas.microsoft.com/office/drawing/2014/main" id="{4C087FC7-86FD-3AF9-6EC7-D577E3480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99279" y="1030841"/>
            <a:ext cx="6395092" cy="47963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23C65-75D1-D629-8014-2E4867CEB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3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7319-5606-F3A6-81AB-4A6C0ACBB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62EA-B422-0EF6-0AE8-955CA572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516C0-B076-30A5-77D3-269A1F587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948"/>
            <a:ext cx="10515600" cy="1806923"/>
          </a:xfrm>
        </p:spPr>
        <p:txBody>
          <a:bodyPr/>
          <a:lstStyle/>
          <a:p>
            <a:r>
              <a:rPr lang="en-US" dirty="0"/>
              <a:t>Integrate UI for interactive student use</a:t>
            </a:r>
          </a:p>
          <a:p>
            <a:r>
              <a:rPr lang="en-US" dirty="0"/>
              <a:t>Add reaction condition filtering (temperature, reagents)</a:t>
            </a:r>
          </a:p>
          <a:p>
            <a:r>
              <a:rPr lang="en-US" dirty="0"/>
              <a:t>Implement scoring: cost, yield, difficulty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CECB7-506E-16EE-5149-EC92B593F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927072D-CD8C-A1DD-8C68-05BD47546810}"/>
              </a:ext>
            </a:extLst>
          </p:cNvPr>
          <p:cNvSpPr txBox="1">
            <a:spLocks/>
          </p:cNvSpPr>
          <p:nvPr/>
        </p:nvSpPr>
        <p:spPr>
          <a:xfrm>
            <a:off x="838200" y="31161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Lessons Learned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6A8F0B-7932-63CE-DE2C-E0957AB493CF}"/>
              </a:ext>
            </a:extLst>
          </p:cNvPr>
          <p:cNvSpPr txBox="1">
            <a:spLocks/>
          </p:cNvSpPr>
          <p:nvPr/>
        </p:nvSpPr>
        <p:spPr>
          <a:xfrm>
            <a:off x="838200" y="4318065"/>
            <a:ext cx="10515600" cy="180692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Canonical SMILES is critical for accuracy</a:t>
            </a:r>
          </a:p>
          <a:p>
            <a:r>
              <a:rPr lang="en-US" dirty="0"/>
              <a:t>Organic chemistry datasets are inconsistent and require heavy cleaning</a:t>
            </a:r>
          </a:p>
          <a:p>
            <a:r>
              <a:rPr lang="en-US" dirty="0"/>
              <a:t>If I were to do this project again to block on large chunks of time for it</a:t>
            </a:r>
          </a:p>
          <a:p>
            <a:r>
              <a:rPr lang="en-US" dirty="0"/>
              <a:t>The importance of algorithms and their usages</a:t>
            </a:r>
          </a:p>
        </p:txBody>
      </p:sp>
    </p:spTree>
    <p:extLst>
      <p:ext uri="{BB962C8B-B14F-4D97-AF65-F5344CB8AC3E}">
        <p14:creationId xmlns:p14="http://schemas.microsoft.com/office/powerpoint/2010/main" val="117015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D76EF-59FE-FA7C-134B-EE22B46D1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1200" y="2608262"/>
            <a:ext cx="5689600" cy="1641475"/>
          </a:xfrm>
        </p:spPr>
        <p:txBody>
          <a:bodyPr>
            <a:noAutofit/>
          </a:bodyPr>
          <a:lstStyle/>
          <a:p>
            <a:r>
              <a:rPr lang="en-US" sz="8800" b="1" dirty="0"/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A8E29-CCCC-C94A-CB26-D6A66B5D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1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4AA6-BEEC-5669-B8C4-3CA2CC9D2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61" y="320675"/>
            <a:ext cx="10515600" cy="1325563"/>
          </a:xfrm>
        </p:spPr>
        <p:txBody>
          <a:bodyPr/>
          <a:lstStyle/>
          <a:p>
            <a:r>
              <a:rPr lang="en-US" b="1" dirty="0"/>
              <a:t>Background: Reaction SMILES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80D3A-525E-039D-ED9E-969A76FD2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 reactions as </a:t>
            </a:r>
            <a:r>
              <a:rPr lang="en-US" i="1" dirty="0"/>
              <a:t>reactants &gt;&gt; products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Why they’re useful in cheminformatics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E28C9-5EDD-ECD5-8F80-6EA07E8F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BC4CC7-6C80-7316-6640-D16597180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709" y="1436305"/>
            <a:ext cx="3312091" cy="474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40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21984-C16C-3DA0-B34B-67EE436F4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4856-B96B-5290-F6F6-7F85CB124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Graph Theory 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AA937-6A3E-9E53-BC84-BBE254E09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graphs fit synthesis planning</a:t>
            </a:r>
          </a:p>
          <a:p>
            <a:r>
              <a:rPr lang="en-US" dirty="0"/>
              <a:t>BFS vs DFS for chemical pathway searching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6CDB8-C1D6-21F1-9F43-748689C64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15</a:t>
            </a:fld>
            <a:endParaRPr lang="en-US" dirty="0"/>
          </a:p>
        </p:txBody>
      </p:sp>
      <p:pic>
        <p:nvPicPr>
          <p:cNvPr id="5126" name="Picture 6" descr="BFS vs. DFS - Open4Tech">
            <a:extLst>
              <a:ext uri="{FF2B5EF4-FFF2-40B4-BE49-F238E27FC236}">
                <a16:creationId xmlns:a16="http://schemas.microsoft.com/office/drawing/2014/main" id="{4C28CFF6-21CA-8078-8D4F-651B9A171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922" y="3169216"/>
            <a:ext cx="6015494" cy="300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902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046E3-3265-4823-D24F-7ADC5981C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A869B-72AC-6287-11FB-FFFFBB04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RDKit</a:t>
            </a:r>
            <a:r>
              <a:rPr lang="en-US" b="1" dirty="0"/>
              <a:t>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43586-E3C0-0713-10E8-0486ECA04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Molecule objects</a:t>
            </a:r>
          </a:p>
          <a:p>
            <a:r>
              <a:rPr lang="en-US" dirty="0"/>
              <a:t>Canonicalization</a:t>
            </a:r>
          </a:p>
          <a:p>
            <a:r>
              <a:rPr lang="en-US" dirty="0"/>
              <a:t>Reaction handling tools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MolFromSmiles</a:t>
            </a:r>
            <a:r>
              <a:rPr lang="en-US" dirty="0"/>
              <a:t>() - Converts a SMILES string into an </a:t>
            </a:r>
            <a:r>
              <a:rPr lang="en-US" dirty="0" err="1"/>
              <a:t>RDKit</a:t>
            </a:r>
            <a:r>
              <a:rPr lang="en-US" dirty="0"/>
              <a:t> molecule object.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MolFromSmarts</a:t>
            </a:r>
            <a:r>
              <a:rPr lang="en-US" dirty="0"/>
              <a:t>() - Parses SMARTS patterns for substructure searching.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Draw.MolToImage</a:t>
            </a:r>
            <a:r>
              <a:rPr lang="en-US" dirty="0"/>
              <a:t>() - Creates 2D images of molecules for slides or demos.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6349D-5F06-8AB7-6B51-23FFBB41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634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5275E-AAFF-B302-62CE-F1F7EBD2D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021D-21B7-5DF3-12D9-48E9E101E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 of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AF997-26AF-49DB-5ED2-AA643C24E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size</a:t>
            </a:r>
          </a:p>
          <a:p>
            <a:r>
              <a:rPr lang="en-US" dirty="0"/>
              <a:t>No stereochemistry</a:t>
            </a:r>
          </a:p>
          <a:p>
            <a:r>
              <a:rPr lang="en-US" dirty="0"/>
              <a:t>No reaction energetics</a:t>
            </a:r>
          </a:p>
          <a:p>
            <a:r>
              <a:rPr lang="en-US" dirty="0"/>
              <a:t>Graph search can generate unrealistic paths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1E4CF-3C81-98FF-D61F-6C1FA3D8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38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62496-F19C-B05E-0967-F2DD17DC2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63F9-B859-E4CA-25E5-C0104FC8C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650D4-D6C4-ABB5-2E25-FA88CC54A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scripts interact: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reactionGraph.py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generatePathways.py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combined123.py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dataset/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data/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838BE-5BF9-FA1B-9469-2F7EA281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5702-E997-461E-8379-886CE3437DB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14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a410e948-0bfa-4bf0-a429-c4da06ab274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E737A3158F25478BD25BB8452C237B" ma:contentTypeVersion="16" ma:contentTypeDescription="Create a new document." ma:contentTypeScope="" ma:versionID="7197c05111730be1cd97238aafd8539c">
  <xsd:schema xmlns:xsd="http://www.w3.org/2001/XMLSchema" xmlns:xs="http://www.w3.org/2001/XMLSchema" xmlns:p="http://schemas.microsoft.com/office/2006/metadata/properties" xmlns:ns1="http://schemas.microsoft.com/sharepoint/v3" xmlns:ns3="a410e948-0bfa-4bf0-a429-c4da06ab2745" xmlns:ns4="36a2cc31-9e63-4732-9c60-a8713d792273" targetNamespace="http://schemas.microsoft.com/office/2006/metadata/properties" ma:root="true" ma:fieldsID="76b79a73451722adea91ad9942c49f27" ns1:_="" ns3:_="" ns4:_="">
    <xsd:import namespace="http://schemas.microsoft.com/sharepoint/v3"/>
    <xsd:import namespace="a410e948-0bfa-4bf0-a429-c4da06ab2745"/>
    <xsd:import namespace="36a2cc31-9e63-4732-9c60-a8713d79227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10e948-0bfa-4bf0-a429-c4da06ab27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2cc31-9e63-4732-9c60-a8713d79227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745673-38CB-4C88-A83D-BEA7F30186F6}">
  <ds:schemaRefs>
    <ds:schemaRef ds:uri="a410e948-0bfa-4bf0-a429-c4da06ab2745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36a2cc31-9e63-4732-9c60-a8713d792273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9E2F0EC-6100-4BE1-A0DF-E728041C98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0E8072-726C-44F4-A69C-F29EBC3508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410e948-0bfa-4bf0-a429-c4da06ab2745"/>
    <ds:schemaRef ds:uri="36a2cc31-9e63-4732-9c60-a8713d7922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657</Words>
  <Application>Microsoft Office PowerPoint</Application>
  <PresentationFormat>Widescreen</PresentationFormat>
  <Paragraphs>142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Wingdings</vt:lpstr>
      <vt:lpstr>Office Theme</vt:lpstr>
      <vt:lpstr>Multistep Synthesis Tool for Organic Chemistry Education</vt:lpstr>
      <vt:lpstr>Motivation</vt:lpstr>
      <vt:lpstr>Goal of the Project</vt:lpstr>
      <vt:lpstr>High Level Overview</vt:lpstr>
      <vt:lpstr>High Level Overview</vt:lpstr>
      <vt:lpstr>High Level Overview</vt:lpstr>
      <vt:lpstr>PowerPoint Presentation</vt:lpstr>
      <vt:lpstr>Datasets</vt:lpstr>
      <vt:lpstr>Implementation</vt:lpstr>
      <vt:lpstr>Results</vt:lpstr>
      <vt:lpstr>Demo Time</vt:lpstr>
      <vt:lpstr>Future Works</vt:lpstr>
      <vt:lpstr>Questions?</vt:lpstr>
      <vt:lpstr>Background: Reaction SMILES</vt:lpstr>
      <vt:lpstr>Graph Theory Refresher</vt:lpstr>
      <vt:lpstr>RDKit Overview</vt:lpstr>
      <vt:lpstr>Limitations of the System</vt:lpstr>
      <vt:lpstr>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Raelyn Brooks</dc:creator>
  <cp:lastModifiedBy>Raelyn Brooks</cp:lastModifiedBy>
  <cp:revision>2</cp:revision>
  <dcterms:created xsi:type="dcterms:W3CDTF">2025-11-20T19:39:47Z</dcterms:created>
  <dcterms:modified xsi:type="dcterms:W3CDTF">2025-12-04T03:11:52Z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86e8d42-b9a6-4554-b0cc-98af32c6b0e9_Enabled">
    <vt:lpwstr>true</vt:lpwstr>
  </property>
  <property fmtid="{D5CDD505-2E9C-101B-9397-08002B2CF9AE}" pid="3" name="MSIP_Label_b86e8d42-b9a6-4554-b0cc-98af32c6b0e9_SetDate">
    <vt:lpwstr>2025-11-20T19:39:48Z</vt:lpwstr>
  </property>
  <property fmtid="{D5CDD505-2E9C-101B-9397-08002B2CF9AE}" pid="4" name="MSIP_Label_b86e8d42-b9a6-4554-b0cc-98af32c6b0e9_Method">
    <vt:lpwstr>Standard</vt:lpwstr>
  </property>
  <property fmtid="{D5CDD505-2E9C-101B-9397-08002B2CF9AE}" pid="5" name="MSIP_Label_b86e8d42-b9a6-4554-b0cc-98af32c6b0e9_Name">
    <vt:lpwstr>defa4170-0d19-0005-0004-bc88714345d2</vt:lpwstr>
  </property>
  <property fmtid="{D5CDD505-2E9C-101B-9397-08002B2CF9AE}" pid="6" name="MSIP_Label_b86e8d42-b9a6-4554-b0cc-98af32c6b0e9_SiteId">
    <vt:lpwstr>9ef017d9-7f05-4225-9838-f92cff57b7ab</vt:lpwstr>
  </property>
  <property fmtid="{D5CDD505-2E9C-101B-9397-08002B2CF9AE}" pid="7" name="MSIP_Label_b86e8d42-b9a6-4554-b0cc-98af32c6b0e9_ActionId">
    <vt:lpwstr>ba7b53ff-5177-4f7d-89d0-451c8fce5b4e</vt:lpwstr>
  </property>
  <property fmtid="{D5CDD505-2E9C-101B-9397-08002B2CF9AE}" pid="8" name="MSIP_Label_b86e8d42-b9a6-4554-b0cc-98af32c6b0e9_ContentBits">
    <vt:lpwstr>0</vt:lpwstr>
  </property>
  <property fmtid="{D5CDD505-2E9C-101B-9397-08002B2CF9AE}" pid="9" name="MSIP_Label_b86e8d42-b9a6-4554-b0cc-98af32c6b0e9_Tag">
    <vt:lpwstr>10, 3, 0, 1</vt:lpwstr>
  </property>
  <property fmtid="{D5CDD505-2E9C-101B-9397-08002B2CF9AE}" pid="10" name="ContentTypeId">
    <vt:lpwstr>0x0101007EE737A3158F25478BD25BB8452C237B</vt:lpwstr>
  </property>
</Properties>
</file>